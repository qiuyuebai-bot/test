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51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589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54864" cy="73152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rgbClr val="8B95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MULTI-AGENT KNOWLEDGE SYSTEM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知域引擎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v1.0.0  · 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001000" y="73152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0" y="73152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89320" y="123444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95160" y="123444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73736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03920" y="173736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06840" y="173736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12680" y="173736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0" y="224028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09760" y="224028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12680" y="224028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15600" y="224028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9320" y="274320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03920" y="274320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06840" y="274320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0" y="324612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0" y="324612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0" y="374904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0" y="374904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03920" y="374904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09760" y="374904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0" y="4251960"/>
            <a:ext cx="466344" cy="46634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0" y="2194560"/>
            <a:ext cx="54864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309360" y="221284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309360" y="257860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诊断·生成·评判·编排 四轮辩论优化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063240"/>
            <a:ext cx="502920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0" y="3200400"/>
            <a:ext cx="54864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6309360" y="321868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个性化生成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309360" y="358444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学情画像驱动的知识资源定制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09360" y="4069080"/>
            <a:ext cx="502920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0" y="4206240"/>
            <a:ext cx="54864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309360" y="422452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幻觉检测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309360" y="459028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事实性错误自动识别与纠偏机制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09360" y="5074920"/>
            <a:ext cx="502920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0" y="5212080"/>
            <a:ext cx="54864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309360" y="5230368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</a:rPr>
              <a:t>发展规划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309360" y="559612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zh-CN" altLang="en-US" sz="11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未来项目的规划</a:t>
            </a:r>
            <a:endParaRPr lang="en-US" altLang="zh-CN" sz="1100" dirty="0"/>
          </a:p>
          <a:p>
            <a:pPr marL="0" indent="0">
              <a:buNone/>
            </a:pP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项目概览  /  PROJECT OVERVIEW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面向领域知识的 AI 原生学习平台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109115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融合学情分析、知识图谱、幻觉检测与自适应导学，构建可信赖的智能教育基础设施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0574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背景与挑战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51460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传统学习资源千人一面，无法匹配个体认知差异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95351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953512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大模型生成内容存在幻觉风险，事实准确性难以保障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392424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" y="3392424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知识零散分布，缺乏结构化组织与语义检索能力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3831336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831336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学习效果难以量化评估，教学闭环不完整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2057400"/>
            <a:ext cx="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43600" y="2057400"/>
            <a:ext cx="0" cy="274320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0574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核心价值主张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09360" y="2532888"/>
            <a:ext cx="347472" cy="347472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2532888"/>
            <a:ext cx="347472" cy="34747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12280" y="2514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280720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学情画像驱动的千人千面学习路径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3154680"/>
            <a:ext cx="347472" cy="347472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154680"/>
            <a:ext cx="347472" cy="34747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12280" y="31363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3429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多智能体辩论 + 幻觉检测双重质量保障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309360" y="3776472"/>
            <a:ext cx="347472" cy="347472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0" y="3776472"/>
            <a:ext cx="347472" cy="34747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12280" y="375818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12280" y="405079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 + 向量检索的语义化知识管理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4398264"/>
            <a:ext cx="347472" cy="347472"/>
          </a:xfrm>
          <a:prstGeom prst="ellipse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0" y="4398264"/>
            <a:ext cx="347472" cy="34747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12280" y="437997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可量化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12280" y="467258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学习增益曲线 + 多维指标的效果度量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48640" y="5303520"/>
            <a:ext cx="11094415" cy="68580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0352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项目定位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5303520"/>
            <a:ext cx="91741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国内领先的 AI 原生领域知识学习平台  ·  以多智能体协同决策为核心，提供从知识管理到个性化导学的全链路解决方案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来源：知域引擎项目组  ·  基于 v1.0.0 版本整理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  /  TECHNICAL ARCHITECTURE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全栈现代化架构，支撑从开发到生产的全流程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技术栈总览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82296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5740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08760" y="203911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18 + TypeScript + Vite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08760" y="225856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Tailwind CSS · Zustand · React Router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516636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560320"/>
            <a:ext cx="82296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56032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后端层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08760" y="254203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+ SQLAlchemy + Pydantic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08760" y="276148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认证 · 异步 I/O · RESTful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017520"/>
            <a:ext cx="516636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063240"/>
            <a:ext cx="82296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06324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08760" y="304495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/ PostgreSQL + Redis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26440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Alembic 迁移 · Celery 任务队列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520440"/>
            <a:ext cx="516636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566160"/>
            <a:ext cx="82296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56616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08760" y="354787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OpenAI API + ChromaDB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08760" y="376732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 · Sentence-Transformers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8640" y="4023360"/>
            <a:ext cx="516636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069080"/>
            <a:ext cx="82296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06908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部署层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08760" y="405079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Docker + K8s + Helm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508760" y="427024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Nginx 反向代理 · ArgoCD GitOps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526280"/>
            <a:ext cx="5166360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572000"/>
            <a:ext cx="822960" cy="384048"/>
          </a:xfrm>
          <a:prstGeom prst="rect">
            <a:avLst/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572000"/>
            <a:ext cx="822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桌面端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508760" y="4553712"/>
            <a:ext cx="4206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Electron + .NET Launcher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508760" y="4773168"/>
            <a:ext cx="4206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运行时打包 · Windows Installer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17920" y="16459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系统分层架构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17920" y="2057400"/>
            <a:ext cx="53949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17920" y="2057400"/>
            <a:ext cx="73152" cy="80467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46520" y="2057400"/>
            <a:ext cx="1371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用户接入层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863840" y="2258568"/>
            <a:ext cx="115824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0" y="2258568"/>
            <a:ext cx="115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113520" y="2258568"/>
            <a:ext cx="115824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13520" y="2258568"/>
            <a:ext cx="115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桌面客户端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10363200" y="2258568"/>
            <a:ext cx="115824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63200" y="2258568"/>
            <a:ext cx="1158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网关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 rot="10800000">
            <a:off x="8842248" y="2907792"/>
            <a:ext cx="146304" cy="91440"/>
          </a:xfrm>
          <a:prstGeom prst="triangle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17920" y="3017520"/>
            <a:ext cx="53949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17920" y="3017520"/>
            <a:ext cx="73152" cy="804672"/>
          </a:xfrm>
          <a:prstGeom prst="rect">
            <a:avLst/>
          </a:prstGeom>
          <a:solidFill>
            <a:srgbClr val="2D7DD2"/>
          </a:solidFill>
          <a:ln w="12700">
            <a:solidFill>
              <a:srgbClr val="2D7D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6520" y="3017520"/>
            <a:ext cx="1371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D7DD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业务服务层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863840" y="321868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863840" y="321868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认证授权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8801100" y="321868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01100" y="321868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知识管理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738360" y="321868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38360" y="321868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学习者画像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675620" y="321868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675620" y="321868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智能体协同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 rot="10800000">
            <a:off x="8842248" y="3867912"/>
            <a:ext cx="146304" cy="91440"/>
          </a:xfrm>
          <a:prstGeom prst="triangle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17920" y="3977640"/>
            <a:ext cx="53949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17920" y="3977640"/>
            <a:ext cx="73152" cy="80467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46520" y="3977640"/>
            <a:ext cx="1371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能力层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863840" y="417880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63840" y="417880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诊断智能体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801100" y="417880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01100" y="417880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生成智能体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9738360" y="417880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417880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评判智能体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675620" y="417880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75620" y="417880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编排智能体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 rot="10800000">
            <a:off x="8842248" y="4828032"/>
            <a:ext cx="146304" cy="91440"/>
          </a:xfrm>
          <a:prstGeom prst="triangle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217920" y="4937760"/>
            <a:ext cx="539496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217920" y="4937760"/>
            <a:ext cx="73152" cy="8046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446520" y="4937760"/>
            <a:ext cx="1371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数据存储层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863840" y="513892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863840" y="513892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关系型数据库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801100" y="513892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801100" y="513892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向量数据库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9738360" y="513892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738360" y="513892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缓存队列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675620" y="5138928"/>
            <a:ext cx="845820" cy="402336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675620" y="5138928"/>
            <a:ext cx="8458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文件存储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来源：知域引擎技术架构文档  ·  v1.0.0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  /  CORE MODULES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六大核心模块，构建完整智能学习闭环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354573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3545738" cy="54864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57200" cy="3200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多智能体协同决策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6060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诊断、生成、评判、编排四大智能体，通过多轮辩论优化输出质量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3088538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多轮辩论机制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806753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06753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任务编排调度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6266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6266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状态实时追踪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22978" y="1691640"/>
            <a:ext cx="354573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2978" y="1691640"/>
            <a:ext cx="3545738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51578" y="1874520"/>
            <a:ext cx="457200" cy="3200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51578" y="224028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学习者画像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51578" y="26060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基于答题记录和行为数据构建多维学情画像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51578" y="3227832"/>
            <a:ext cx="3088538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1578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1578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知识掌握度分析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581091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81091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学习风格识别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10604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10604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认知水平评估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8097317" y="1691640"/>
            <a:ext cx="354573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7317" y="1691640"/>
            <a:ext cx="354573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5917" y="1874520"/>
            <a:ext cx="457200" cy="3200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25917" y="224028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领域知识库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25917" y="260604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支持文档上传、智能切片、向量索引与语义检索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325917" y="3227832"/>
            <a:ext cx="3088538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5917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5917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智能文本切片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355430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55430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Chroma 向量库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0384942" y="338328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384942" y="338328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检索增强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4160520"/>
            <a:ext cx="354573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4160520"/>
            <a:ext cx="3545738" cy="5486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4343400"/>
            <a:ext cx="457200" cy="3200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B2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" y="470916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个性化资源生成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77240" y="50749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根据学情画像动态生成练习题、讲解材料与学习路径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40" y="5696712"/>
            <a:ext cx="3088538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77240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7240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题目自动生成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06753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06753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讲义智能编写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836266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36266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学习路径规划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322978" y="4160520"/>
            <a:ext cx="354573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322978" y="4160520"/>
            <a:ext cx="354573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51578" y="4343400"/>
            <a:ext cx="457200" cy="3200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551578" y="470916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幻觉检测与纠偏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4551578" y="50749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自动检测生成内容中的事实性错误并智能纠偏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51578" y="5696712"/>
            <a:ext cx="3088538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551578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51578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多维度幻觉检测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5581091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581091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证据溯源验证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610604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610604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自动修正建议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7317" y="4160520"/>
            <a:ext cx="3545738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097317" y="4160520"/>
            <a:ext cx="3545738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325917" y="4343400"/>
            <a:ext cx="457200" cy="32004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8325917" y="470916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量化指标监控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8325917" y="5074920"/>
            <a:ext cx="308853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幻觉率、匹配准确率、知识覆盖率等核心指标可视化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8325917" y="5696712"/>
            <a:ext cx="3088538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325917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25917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学习增益曲线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9355430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355430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实时指标看板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10384942" y="5852160"/>
            <a:ext cx="938073" cy="320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384942" y="5852160"/>
            <a:ext cx="93807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报告自动导出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来源：知域引擎功能模块说明文档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智能体系统  /  MULTI-AGENT SYSTEM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四智能体协同决策，辩论式质量优化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260215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2602154" cy="54864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29677" y="1920240"/>
            <a:ext cx="640080" cy="640080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29677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6021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诊断智能体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2898648"/>
            <a:ext cx="260215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 Agent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85800" y="3063240"/>
            <a:ext cx="232783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学情分析与知识缺口诊断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79394" y="1691640"/>
            <a:ext cx="260215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79394" y="1691640"/>
            <a:ext cx="2602154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60431" y="192024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60431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379394" y="2651760"/>
            <a:ext cx="26021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生成智能体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79394" y="2898648"/>
            <a:ext cx="260215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Generation Agent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516554" y="3063240"/>
            <a:ext cx="232783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个性化学习资源生成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210148" y="1691640"/>
            <a:ext cx="260215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0148" y="1691640"/>
            <a:ext cx="260215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91185" y="1920240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91185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210148" y="2651760"/>
            <a:ext cx="26021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评判智能体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210148" y="2898648"/>
            <a:ext cx="260215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 Agent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347308" y="3063240"/>
            <a:ext cx="232783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质量审核与幻觉检测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040901" y="1691640"/>
            <a:ext cx="2602154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40901" y="1691640"/>
            <a:ext cx="260215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21938" y="192024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021938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040901" y="2651760"/>
            <a:ext cx="260215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编排智能体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9040901" y="2898648"/>
            <a:ext cx="260215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Orchestrator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178061" y="3063240"/>
            <a:ext cx="232783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任务调度与多轮协调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48640" y="3657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协同决策流程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48640" y="4069080"/>
            <a:ext cx="2430704" cy="20116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325112"/>
            <a:ext cx="2430704" cy="749808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389120"/>
            <a:ext cx="2430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学情诊断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4690872"/>
            <a:ext cx="22478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分析学习者知识掌握度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 rot="5400000">
            <a:off x="3070784" y="4535424"/>
            <a:ext cx="137160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33624" y="4572000"/>
            <a:ext cx="274320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36544" y="4069080"/>
            <a:ext cx="2430704" cy="20116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436544" y="4325112"/>
            <a:ext cx="2430704" cy="749808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36544" y="4389120"/>
            <a:ext cx="2430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资源生成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527984" y="4690872"/>
            <a:ext cx="22478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生成个性化学习材料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 rot="5400000">
            <a:off x="5958688" y="4535424"/>
            <a:ext cx="137160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821528" y="4572000"/>
            <a:ext cx="274320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24448" y="4069080"/>
            <a:ext cx="2430704" cy="20116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24448" y="4325112"/>
            <a:ext cx="2430704" cy="749808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24448" y="4389120"/>
            <a:ext cx="2430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质量评判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415888" y="4690872"/>
            <a:ext cx="22478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幻觉检测与质量审核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 rot="5400000">
            <a:off x="8846591" y="4535424"/>
            <a:ext cx="137160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09431" y="4572000"/>
            <a:ext cx="274320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212351" y="4069080"/>
            <a:ext cx="2430704" cy="20116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4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9212351" y="4325112"/>
            <a:ext cx="2430704" cy="749808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12351" y="4389120"/>
            <a:ext cx="2430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迭代优化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303791" y="4690872"/>
            <a:ext cx="2247824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多轮辩论直至达标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48640" y="5394960"/>
            <a:ext cx="11094415" cy="5943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48640" y="5440680"/>
            <a:ext cx="2773604" cy="29260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548640" y="5742432"/>
            <a:ext cx="27736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智能体数量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322244" y="5440680"/>
            <a:ext cx="2773604" cy="29260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3322244" y="5742432"/>
            <a:ext cx="27736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辩论轮次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095848" y="5440680"/>
            <a:ext cx="2773604" cy="29260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&lt;5%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6095848" y="5742432"/>
            <a:ext cx="27736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目标幻觉率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8869451" y="5440680"/>
            <a:ext cx="2773604" cy="29260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SSE</a:t>
            </a:r>
            <a:endParaRPr lang="en-US" sz="1800" dirty="0"/>
          </a:p>
        </p:txBody>
      </p:sp>
      <p:sp>
        <p:nvSpPr>
          <p:cNvPr id="65" name="Text 63"/>
          <p:cNvSpPr/>
          <p:nvPr/>
        </p:nvSpPr>
        <p:spPr>
          <a:xfrm>
            <a:off x="8869451" y="5742432"/>
            <a:ext cx="27736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实时反馈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来源：知域引擎多智能体架构设计文档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技术亮点  /  TECHNOLOGY HIGHLIGHTS  ·  Ⅰ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知识图谱 + RAG 检索增强，精准召回领域知识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检索增强生成流程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29968"/>
            <a:ext cx="384048" cy="38404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29968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88720" y="2011680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知识摄入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文档上传 · 格式解析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2104" y="2414016"/>
            <a:ext cx="0" cy="310896"/>
          </a:xfrm>
          <a:prstGeom prst="line">
            <a:avLst/>
          </a:prstGeom>
          <a:noFill/>
          <a:ln w="19050">
            <a:solidFill>
              <a:srgbClr val="E2E5EA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2D7DD2"/>
          </a:solidFill>
          <a:ln w="12700">
            <a:solidFill>
              <a:srgbClr val="2D7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72491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智能切片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88720" y="296265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语义分块 · 元数据标注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32104" y="3127248"/>
            <a:ext cx="0" cy="310896"/>
          </a:xfrm>
          <a:prstGeom prst="line">
            <a:avLst/>
          </a:prstGeom>
          <a:noFill/>
          <a:ln w="19050">
            <a:solidFill>
              <a:srgbClr val="E2E5E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40080" y="3456432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456432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向量化索引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88720" y="3675888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· Chroma 存储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2104" y="3840480"/>
            <a:ext cx="0" cy="310896"/>
          </a:xfrm>
          <a:prstGeom prst="line">
            <a:avLst/>
          </a:prstGeom>
          <a:noFill/>
          <a:ln w="19050">
            <a:solidFill>
              <a:srgbClr val="E2E5E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40080" y="4169664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169664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88720" y="4151376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语义检索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88720" y="43891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相似度匹配 · 重排序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32104" y="4553712"/>
            <a:ext cx="0" cy="310896"/>
          </a:xfrm>
          <a:prstGeom prst="line">
            <a:avLst/>
          </a:prstGeom>
          <a:noFill/>
          <a:ln w="19050">
            <a:solidFill>
              <a:srgbClr val="E2E5EA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40080" y="4882896"/>
            <a:ext cx="384048" cy="38404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882896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188720" y="4864608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增强生成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88720" y="5102352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上下文注入 · 精准回答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知识库核心能力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36792" y="2066544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36792" y="2066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766560" y="201168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支持文档格式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95360" y="201168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 / TXT / PDF / DOCX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217920" y="2542032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36792" y="2596896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36792" y="25968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766560" y="254203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向量数据库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8595360" y="2542032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ChromaDB + HNSW 索引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17920" y="3072384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36792" y="3127248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127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66560" y="307238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Embedding 模型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595360" y="3072384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Sentence-Transformers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217920" y="3602736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36792" y="3657600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36792" y="36576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766560" y="3602736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知识切片策略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95360" y="3602736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语义分块 + 重叠窗口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0" y="4133088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36792" y="4187952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36792" y="41879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766560" y="4133088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检索方式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8595360" y="413308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 + 关键词混合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6217920" y="4663440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336792" y="4718304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36792" y="471830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766560" y="466344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知识领域覆盖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595360" y="4663440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/ 数学 / 电气 / 工控 等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548640" y="5486400"/>
            <a:ext cx="11094415" cy="502920"/>
          </a:xfrm>
          <a:prstGeom prst="rect">
            <a:avLst/>
          </a:prstGeom>
          <a:solidFill>
            <a:srgbClr val="E8F0FA"/>
          </a:solidFill>
          <a:ln w="9525">
            <a:solidFill>
              <a:srgbClr val="D6E4F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8640" y="5504688"/>
            <a:ext cx="2773604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60+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548640" y="5779008"/>
            <a:ext cx="27736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内置种子知识文档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322244" y="5504688"/>
            <a:ext cx="2773604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大类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3322244" y="5779008"/>
            <a:ext cx="27736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学科领域覆盖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095848" y="5504688"/>
            <a:ext cx="2773604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毫秒级</a:t>
            </a:r>
            <a:endParaRPr lang="en-US" sz="1600" dirty="0"/>
          </a:p>
        </p:txBody>
      </p:sp>
      <p:sp>
        <p:nvSpPr>
          <p:cNvPr id="68" name="Text 66"/>
          <p:cNvSpPr/>
          <p:nvPr/>
        </p:nvSpPr>
        <p:spPr>
          <a:xfrm>
            <a:off x="6095848" y="5779008"/>
            <a:ext cx="27736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向量检索响应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869451" y="5504688"/>
            <a:ext cx="2773604" cy="27432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95%+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8869451" y="5779008"/>
            <a:ext cx="27736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检索准确率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来源：知域引擎知识库技术方案  ·  ChromaDB + Sentence-Transformers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技术亮点  /  TECHNOLOGY HIGHLIGHTS  ·  Ⅱ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多维度幻觉检测体系，保障生成内容可信度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幻觉检测维度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166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1168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事实一致性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0" y="2011680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验证生成内容与知识库事实的匹配度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83480" y="2121408"/>
            <a:ext cx="594360" cy="256032"/>
          </a:xfrm>
          <a:prstGeom prst="rect">
            <a:avLst/>
          </a:prstGeom>
          <a:solidFill>
            <a:srgbClr val="FDE7E7"/>
          </a:solidFill>
          <a:ln w="6350">
            <a:solidFill>
              <a:srgbClr val="F2B5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121408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2578608"/>
            <a:ext cx="5166360" cy="475488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578608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来源可追溯性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2578608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每个论断都能溯源到具体知识片段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83480" y="2688336"/>
            <a:ext cx="594360" cy="256032"/>
          </a:xfrm>
          <a:prstGeom prst="rect">
            <a:avLst/>
          </a:prstGeom>
          <a:solidFill>
            <a:srgbClr val="FEF3E0"/>
          </a:solidFill>
          <a:ln w="6350">
            <a:solidFill>
              <a:srgbClr val="F5D5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688336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145536"/>
            <a:ext cx="5166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145536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逻辑自洽性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86000" y="3145536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检测内容内部的逻辑矛盾与冲突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83480" y="3255264"/>
            <a:ext cx="594360" cy="256032"/>
          </a:xfrm>
          <a:prstGeom prst="rect">
            <a:avLst/>
          </a:prstGeom>
          <a:solidFill>
            <a:srgbClr val="E6F5EF"/>
          </a:solidFill>
          <a:ln w="6350">
            <a:solidFill>
              <a:srgbClr val="A3D9C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3255264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中风险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12464"/>
            <a:ext cx="5166360" cy="475488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12464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数值准确性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712464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校验数字、公式、统计数据的正确性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83480" y="3822192"/>
            <a:ext cx="594360" cy="256032"/>
          </a:xfrm>
          <a:prstGeom prst="rect">
            <a:avLst/>
          </a:prstGeom>
          <a:solidFill>
            <a:srgbClr val="FDE7E7"/>
          </a:solidFill>
          <a:ln w="6350">
            <a:solidFill>
              <a:srgbClr val="F2B5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3480" y="3822192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8640" y="4279392"/>
            <a:ext cx="516636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279392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概念准确性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286000" y="4279392"/>
            <a:ext cx="2560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确保专业术语和概念定义准确无误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983480" y="4389120"/>
            <a:ext cx="594360" cy="256032"/>
          </a:xfrm>
          <a:prstGeom prst="rect">
            <a:avLst/>
          </a:prstGeom>
          <a:solidFill>
            <a:srgbClr val="FEF3E0"/>
          </a:solidFill>
          <a:ln w="6350">
            <a:solidFill>
              <a:srgbClr val="F5D5A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83480" y="438912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中风险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质量保障机制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217920" y="2011680"/>
            <a:ext cx="5394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17920" y="2011680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19088" y="215798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19088" y="2157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49440" y="208483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多轮辩论优化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949440" y="234086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生成与评判智能体多轮交互，逐步提升内容质量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88920"/>
            <a:ext cx="5394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2788920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19088" y="293522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19088" y="29352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溯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49440" y="286207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证据溯源验证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949440" y="311810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生成内容自动关联知识库来源，支持一键溯源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217920" y="3566160"/>
            <a:ext cx="5394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17920" y="3566160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19088" y="371246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9088" y="37124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949440" y="363931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人工审核通道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949440" y="389534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高风险内容支持专家标注与审核，持续优化模型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217920" y="4343400"/>
            <a:ext cx="5394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17920" y="4343400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19088" y="4489704"/>
            <a:ext cx="384048" cy="38404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19088" y="44897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49440" y="441655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指标量化监控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949440" y="4672584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幻觉率、匹配率、覆盖率等核心指标实时监控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solidFill>
            <a:srgbClr val="FEF3C7"/>
          </a:solidFill>
          <a:ln w="9525">
            <a:solidFill>
              <a:srgbClr val="F9DEB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22960" y="5440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2400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质量承诺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2651760" y="5440680"/>
            <a:ext cx="87169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8350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通过多智能体辩论 + 证据溯源 + 人工审核三重保障，将生成内容幻觉率控制在 5% 以下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来源：知域引擎幻觉检测技术方案  ·  基于评判智能体与证据溯源机制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桌面交付  /  DESKTOP DELIVERY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桌面版 — 开箱即用，零配置体验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核心特性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075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234440" y="20116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一键安装启动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10896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Windows Installer，双击即装即用，无需配置开发环境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606040"/>
            <a:ext cx="539496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60604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67004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34440" y="2606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AI 运行时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10896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Python 与 ChromaDB，本地向量检索开箱可用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200400"/>
            <a:ext cx="5394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20040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326440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34440" y="3200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自动端口管理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108960" y="32004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后端自动选择可用端口，关闭程序时自动清理后台服务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539496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79476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3232" y="385876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38587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234440" y="37947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用户数据独立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108960" y="37947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数据库、日志、知识文件存入用户目录，不污染安装目录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389120"/>
            <a:ext cx="53949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38912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45312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3232" y="4453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234440" y="43891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配置中心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108960" y="43891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按用户隔离的模型配置，支持多服务商接入，密钥加密存储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539496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4983480"/>
            <a:ext cx="5486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3232" y="504748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3232" y="5047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234440" y="49834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575MB 安装包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108960" y="49834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完整功能打包，体积主要来自本地向量库与科学计算运行时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安装与使用流程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309360" y="2130552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09360" y="2130552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58000" y="2057400"/>
            <a:ext cx="4663440" cy="530352"/>
          </a:xfrm>
          <a:prstGeom prst="rect">
            <a:avLst/>
          </a:prstGeom>
          <a:solidFill>
            <a:srgbClr val="F1ECFE"/>
          </a:solidFill>
          <a:ln w="6350">
            <a:solidFill>
              <a:srgbClr val="D9CCF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40880" y="2093976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下载安装包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040880" y="2350008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获取 ZhiyuEngine-Setup.exe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501384" y="2514600"/>
            <a:ext cx="0" cy="256032"/>
          </a:xfrm>
          <a:prstGeom prst="line">
            <a:avLst/>
          </a:prstGeom>
          <a:noFill/>
          <a:ln w="19050">
            <a:solidFill>
              <a:srgbClr val="D9CCF7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309360" y="2843784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09360" y="2843784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58000" y="2770632"/>
            <a:ext cx="4663440" cy="530352"/>
          </a:xfrm>
          <a:prstGeom prst="rect">
            <a:avLst/>
          </a:prstGeom>
          <a:solidFill>
            <a:srgbClr val="F1ECFE"/>
          </a:solidFill>
          <a:ln w="6350">
            <a:solidFill>
              <a:srgbClr val="D9CCF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0880" y="2807208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运行安装向导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3063240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选择路径，创建桌面快捷方式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501384" y="3227832"/>
            <a:ext cx="0" cy="256032"/>
          </a:xfrm>
          <a:prstGeom prst="line">
            <a:avLst/>
          </a:prstGeom>
          <a:noFill/>
          <a:ln w="19050">
            <a:solidFill>
              <a:srgbClr val="D9CCF7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6309360" y="3557016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9360" y="3557016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58000" y="3483864"/>
            <a:ext cx="4663440" cy="530352"/>
          </a:xfrm>
          <a:prstGeom prst="rect">
            <a:avLst/>
          </a:prstGeom>
          <a:solidFill>
            <a:srgbClr val="F1ECFE"/>
          </a:solidFill>
          <a:ln w="6350">
            <a:solidFill>
              <a:srgbClr val="D9CCF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40880" y="3520440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首次启动配置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7040880" y="3776472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创建本地管理员账号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501384" y="3941064"/>
            <a:ext cx="0" cy="256032"/>
          </a:xfrm>
          <a:prstGeom prst="line">
            <a:avLst/>
          </a:prstGeom>
          <a:noFill/>
          <a:ln w="19050">
            <a:solidFill>
              <a:srgbClr val="D9CCF7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6309360" y="4270248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09360" y="4270248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858000" y="4197096"/>
            <a:ext cx="4663440" cy="530352"/>
          </a:xfrm>
          <a:prstGeom prst="rect">
            <a:avLst/>
          </a:prstGeom>
          <a:solidFill>
            <a:srgbClr val="F1ECFE"/>
          </a:solidFill>
          <a:ln w="6350">
            <a:solidFill>
              <a:srgbClr val="D9CCF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040880" y="4233672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模型配置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7040880" y="4489704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接入个人模型服务或跳过体验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501384" y="4654296"/>
            <a:ext cx="0" cy="256032"/>
          </a:xfrm>
          <a:prstGeom prst="line">
            <a:avLst/>
          </a:prstGeom>
          <a:noFill/>
          <a:ln w="19050">
            <a:solidFill>
              <a:srgbClr val="D9CCF7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6309360" y="4983480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09360" y="4983480"/>
            <a:ext cx="384048" cy="38404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6858000" y="4910328"/>
            <a:ext cx="4663440" cy="530352"/>
          </a:xfrm>
          <a:prstGeom prst="rect">
            <a:avLst/>
          </a:prstGeom>
          <a:solidFill>
            <a:srgbClr val="F1ECFE"/>
          </a:solidFill>
          <a:ln w="6350">
            <a:solidFill>
              <a:srgbClr val="D9CCF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40880" y="4946904"/>
            <a:ext cx="4297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开始使用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7040880" y="5202936"/>
            <a:ext cx="42976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导入知识、创建学习者、生成资源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22960" y="54406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系统要求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2651760" y="5440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10/11  64 位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120640" y="5440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8GB+ 内存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589520" y="5440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2GB 可用磁盘空间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10058400" y="5440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可选：互联网连接（使用云端模型）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 v1.0.0 桌面版发布说明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工程质量  /  ENGINEERING QUALITY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完善的质量保障与运维体系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测试覆盖体系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" cy="53035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0116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前后端核心逻辑单元测试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822960" cy="53035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80+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651760"/>
            <a:ext cx="54864" cy="5303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651760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集成测试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94560" y="265176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路由与服务层集成测试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651760"/>
            <a:ext cx="822960" cy="53035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40+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291840"/>
            <a:ext cx="54864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291840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E2E 测试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194560" y="329184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 端到端功能测试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291840"/>
            <a:ext cx="822960" cy="53035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10+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931920"/>
            <a:ext cx="54864" cy="5303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931920"/>
            <a:ext cx="1371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性能测试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194560" y="393192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压力 / 负载 / 尖峰性能测试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37760" y="3931920"/>
            <a:ext cx="822960" cy="530352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类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生产级运维能力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011680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6792" y="2066544"/>
            <a:ext cx="329184" cy="329184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36792" y="20665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12280" y="2011680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监控告警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2011680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 + Grafana + 10 条告警规则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542032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36792" y="2596896"/>
            <a:ext cx="329184" cy="329184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36792" y="259689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6812280" y="2542032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备份恢复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0" y="2542032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 每日备份 + Velero PVC 快照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217920" y="3072384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36792" y="3127248"/>
            <a:ext cx="329184" cy="329184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36792" y="3127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812280" y="3072384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发布策略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229600" y="3072384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蓝绿部署 · 金丝雀发布 · 秒级回滚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17920" y="3602736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36792" y="3657600"/>
            <a:ext cx="329184" cy="329184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36792" y="36576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812280" y="3602736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安全合规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229600" y="3602736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数据脱敏 · JWT 认证 · 权限边界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217920" y="4133088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36792" y="4187952"/>
            <a:ext cx="329184" cy="329184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36792" y="418795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812280" y="413308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日志审计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229600" y="4133088"/>
            <a:ext cx="3200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结构化日志 · 操作审计 · 问题追踪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5394960"/>
            <a:ext cx="11094415" cy="594360"/>
          </a:xfrm>
          <a:prstGeom prst="rect">
            <a:avLst/>
          </a:prstGeom>
          <a:solidFill>
            <a:srgbClr val="F7F8FA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53949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 流水线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2651760" y="5532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代码提交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813048" y="5687568"/>
            <a:ext cx="109728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3922776" y="5650992"/>
            <a:ext cx="73152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77640" y="5532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Lint + Type Check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138928" y="5687568"/>
            <a:ext cx="109728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5248656" y="5650992"/>
            <a:ext cx="73152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03520" y="5532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464808" y="5687568"/>
            <a:ext cx="109728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6574536" y="5650992"/>
            <a:ext cx="73152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29400" y="5532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集成测试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790688" y="5687568"/>
            <a:ext cx="109728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rot="5400000">
            <a:off x="7900416" y="5650992"/>
            <a:ext cx="73152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55280" y="5532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构建镜像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116568" y="5687568"/>
            <a:ext cx="109728" cy="0"/>
          </a:xfrm>
          <a:prstGeom prst="line">
            <a:avLst/>
          </a:prstGeom>
          <a:noFill/>
          <a:ln w="19050">
            <a:solidFill>
              <a:srgbClr val="1E5AA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rot="5400000">
            <a:off x="9226296" y="5650992"/>
            <a:ext cx="73152" cy="73152"/>
          </a:xfrm>
          <a:prstGeom prst="triangl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81160" y="55321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部署发布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来源：知域引擎质量保障与运维体系文档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学习者画像  /  LEARNER PROFILE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多维学情画像，驱动个性化自适应导学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学习者画像维度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" cy="53035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011680"/>
            <a:ext cx="1463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知识掌握度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2011680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各知识点掌握情况、薄弱环节识别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937760" y="2148840"/>
            <a:ext cx="777240" cy="256032"/>
          </a:xfrm>
          <a:prstGeom prst="rect">
            <a:avLst/>
          </a:prstGeom>
          <a:solidFill>
            <a:srgbClr val="1E5AA8"/>
          </a:solidFill>
          <a:ln w="9525">
            <a:solidFill>
              <a:srgbClr val="1E5A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214884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2633472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633472"/>
            <a:ext cx="54864" cy="5303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633472"/>
            <a:ext cx="1463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学习风格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633472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视觉型 / 听觉型 / 动手型偏好分析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37760" y="2770632"/>
            <a:ext cx="777240" cy="256032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77063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255264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255264"/>
            <a:ext cx="54864" cy="53035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55264"/>
            <a:ext cx="1463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认知水平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3255264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 / 理解 / 应用 / 分析 / 评价层级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37760" y="3392424"/>
            <a:ext cx="777240" cy="256032"/>
          </a:xfrm>
          <a:prstGeom prst="rect">
            <a:avLst/>
          </a:prstGeom>
          <a:solidFill>
            <a:srgbClr val="7C3AED"/>
          </a:solidFill>
          <a:ln w="9525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392424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分级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48640" y="3877056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3877056"/>
            <a:ext cx="54864" cy="5303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877056"/>
            <a:ext cx="1463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学习进度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877056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学习时长、完成率、学习曲线分析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4014216"/>
            <a:ext cx="777240" cy="256032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37760" y="4014216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时序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498848"/>
            <a:ext cx="5303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98848"/>
            <a:ext cx="54864" cy="5303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4498848"/>
            <a:ext cx="1463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能力模型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4498848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综合能力评估与发展建议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4636008"/>
            <a:ext cx="777240" cy="256032"/>
          </a:xfrm>
          <a:prstGeom prst="rect">
            <a:avLst/>
          </a:prstGeom>
          <a:solidFill>
            <a:srgbClr val="059669"/>
          </a:solidFill>
          <a:ln w="9525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0" y="46360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自适应导学机制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217920" y="2011680"/>
            <a:ext cx="5394960" cy="749808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2176272"/>
            <a:ext cx="45720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95160" y="210312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学情诊断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95160" y="23774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通过测评与答题记录，建立初始学习者画像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880360"/>
            <a:ext cx="539496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3044952"/>
            <a:ext cx="45720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6995160" y="297180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路径规划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995160" y="324612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基于画像自动生成个性化学习路径与资源推荐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17920" y="3749040"/>
            <a:ext cx="5394960" cy="749808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0" y="3913632"/>
            <a:ext cx="45720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6995160" y="384048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动态调整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995160" y="411480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实时追踪学习效果，动态调整难度与内容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17920" y="4617720"/>
            <a:ext cx="539496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4782312"/>
            <a:ext cx="45720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2000" dirty="0"/>
          </a:p>
        </p:txBody>
      </p:sp>
      <p:sp>
        <p:nvSpPr>
          <p:cNvPr id="52" name="Text 50"/>
          <p:cNvSpPr/>
          <p:nvPr/>
        </p:nvSpPr>
        <p:spPr>
          <a:xfrm>
            <a:off x="6995160" y="47091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效果反馈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995160" y="498348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学习增益曲线可视化，量化展示进步与差距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来源：知域引擎学习者画像与自适应导学子系统设计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 /  APPLICATION SCENARIOS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覆盖多行业领域的知识学习与培训场景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691640"/>
            <a:ext cx="354573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3545738" cy="54864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14218" y="1874520"/>
            <a:ext cx="1051560" cy="237744"/>
          </a:xfrm>
          <a:prstGeom prst="rect">
            <a:avLst/>
          </a:prstGeom>
          <a:solidFill>
            <a:srgbClr val="1E5AA8"/>
          </a:solidFill>
          <a:ln w="6350">
            <a:solidFill>
              <a:srgbClr val="1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4218" y="1874520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工业制造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2011680"/>
            <a:ext cx="502920" cy="502920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269748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智能制造培训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044952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工业自动化、数字孪生、设备运维等专业知识培训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22978" y="1691640"/>
            <a:ext cx="354573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2978" y="1691640"/>
            <a:ext cx="3545738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8557" y="1874520"/>
            <a:ext cx="1051560" cy="237744"/>
          </a:xfrm>
          <a:prstGeom prst="rect">
            <a:avLst/>
          </a:prstGeom>
          <a:solidFill>
            <a:srgbClr val="0F766E"/>
          </a:solidFill>
          <a:ln w="635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8557" y="1874520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F76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信息技术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51578" y="201168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1578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1578" y="269748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IT 技术教育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51578" y="3044952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AI、编程、网络安全、数据库等技术栈体系化学习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7317" y="1691640"/>
            <a:ext cx="354573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7317" y="1691640"/>
            <a:ext cx="3545738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62895" y="1874520"/>
            <a:ext cx="1051560" cy="237744"/>
          </a:xfrm>
          <a:prstGeom prst="rect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62895" y="1874520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电力电气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325917" y="2011680"/>
            <a:ext cx="502920" cy="50292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5917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325917" y="269748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电力电气培训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325917" y="3044952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电力系统、自动化控制、电路理论等专业内容学习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354573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3931920"/>
            <a:ext cx="3545738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14218" y="4114800"/>
            <a:ext cx="1051560" cy="237744"/>
          </a:xfrm>
          <a:prstGeom prst="rect">
            <a:avLst/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14218" y="4114800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高等教育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77240" y="4251960"/>
            <a:ext cx="502920" cy="5029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251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77240" y="493776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高等教育辅助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77240" y="5285232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数学、物理、计算机等学科的个性化辅导与练习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322978" y="3931920"/>
            <a:ext cx="354573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22978" y="3931920"/>
            <a:ext cx="3545738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8557" y="4114800"/>
            <a:ext cx="1051560" cy="237744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8557" y="4114800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企业培训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51578" y="4251960"/>
            <a:ext cx="502920" cy="50292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51578" y="4251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551578" y="493776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企业内训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551578" y="5285232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新员工入职培训、岗位技能提升、知识库建设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097317" y="3931920"/>
            <a:ext cx="3545738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097317" y="3931920"/>
            <a:ext cx="3545738" cy="54864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362895" y="4114800"/>
            <a:ext cx="1051560" cy="237744"/>
          </a:xfrm>
          <a:prstGeom prst="rect">
            <a:avLst/>
          </a:prstGeom>
          <a:solidFill>
            <a:srgbClr val="DB2777"/>
          </a:solidFill>
          <a:ln w="635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362895" y="4114800"/>
            <a:ext cx="1051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B2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职业认证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325917" y="4251960"/>
            <a:ext cx="502920" cy="50292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25917" y="4251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325917" y="4937760"/>
            <a:ext cx="308853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职业认证备考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8325917" y="5285232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40"/>
              </a:lnSpc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职业资格认证、技能等级考试的针对性备考训练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solidFill>
            <a:srgbClr val="E8F0FA"/>
          </a:solidFill>
          <a:ln w="9525">
            <a:solidFill>
              <a:srgbClr val="D6E4F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22960" y="59436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内置种子知识覆盖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292608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397764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计算机科学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02920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数学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08076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713232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电力电气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18388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工业物联网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923544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智能制造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28700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网络安全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1338560" y="5943600"/>
            <a:ext cx="1005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通用素养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来源：知域引擎知识库种子内容统计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安全合规  /  SECURITY &amp; PRIVACY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全方位数据安全与隐私保护机制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内置数据脱敏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11680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姓名脱敏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03120" y="2011680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张三 → *三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0" y="2011680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姓氏替换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74920" y="2121408"/>
            <a:ext cx="685800" cy="219456"/>
          </a:xfrm>
          <a:prstGeom prst="rect">
            <a:avLst/>
          </a:prstGeom>
          <a:solidFill>
            <a:srgbClr val="E6F5EF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121408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已支持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542032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54203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手机号脱敏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103120" y="254203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138****1234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0" y="2542032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中间掩码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74920" y="2651760"/>
            <a:ext cx="685800" cy="219456"/>
          </a:xfrm>
          <a:prstGeom prst="rect">
            <a:avLst/>
          </a:prstGeom>
          <a:solidFill>
            <a:srgbClr val="E6F5EF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4920" y="2651760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已支持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3072384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72384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身份证号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103120" y="3072384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310***********1234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40480" y="3072384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分段掩码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74920" y="3182112"/>
            <a:ext cx="685800" cy="219456"/>
          </a:xfrm>
          <a:prstGeom prst="rect">
            <a:avLst/>
          </a:prstGeom>
          <a:solidFill>
            <a:srgbClr val="E6F5EF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3182112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已支持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3602736"/>
            <a:ext cx="5394960" cy="43891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602736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地址脱敏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103120" y="3602736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上海市浦***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40480" y="3602736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区域截断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74920" y="3712464"/>
            <a:ext cx="685800" cy="219456"/>
          </a:xfrm>
          <a:prstGeom prst="rect">
            <a:avLst/>
          </a:prstGeom>
          <a:solidFill>
            <a:srgbClr val="E6F5EF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371246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已支持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133088"/>
            <a:ext cx="5394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133088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邮箱脱敏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103120" y="4133088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u***@example.com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840480" y="4133088"/>
            <a:ext cx="1097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用户名掩码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74920" y="4242816"/>
            <a:ext cx="685800" cy="219456"/>
          </a:xfrm>
          <a:prstGeom prst="rect">
            <a:avLst/>
          </a:prstGeom>
          <a:solidFill>
            <a:srgbClr val="E6F5EF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4242816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已支持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安全保障体系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217920" y="2011680"/>
            <a:ext cx="5394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2011680"/>
            <a:ext cx="54864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19088" y="2084832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208483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903720" y="201168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认证授权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1040" y="2011680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JWT Token 认证 · 角色权限控制 · 多用户隔离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2615184"/>
            <a:ext cx="5394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7920" y="2615184"/>
            <a:ext cx="54864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19088" y="2688336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19088" y="268833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03720" y="261518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密钥加密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321040" y="2615184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Key 加密存储 · 日志脱敏 · 配置安全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217920" y="3218688"/>
            <a:ext cx="5394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17920" y="3218688"/>
            <a:ext cx="54864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419088" y="329184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19088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903720" y="321868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数据隔离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321040" y="3218688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学习者数据权限边界 · 按账号隔离业务数据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217920" y="3822192"/>
            <a:ext cx="5394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17920" y="3822192"/>
            <a:ext cx="54864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19088" y="3895344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19088" y="3895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903720" y="382219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操作审计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321040" y="3822192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关键操作日志记录 · 可追溯的变更历史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217920" y="4425696"/>
            <a:ext cx="53949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17920" y="4425696"/>
            <a:ext cx="54864" cy="5120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419088" y="4498848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19088" y="44988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6903720" y="442569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321040" y="4425696"/>
            <a:ext cx="3108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95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桌面版数据本地存储 · 可选完全离线使用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8640" y="5394960"/>
            <a:ext cx="11094415" cy="594360"/>
          </a:xfrm>
          <a:prstGeom prst="rect">
            <a:avLst/>
          </a:prstGeom>
          <a:solidFill>
            <a:srgbClr val="ECFDF5"/>
          </a:solidFill>
          <a:ln w="9525">
            <a:solidFill>
              <a:srgbClr val="A3D9C2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22960" y="53949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隐私承诺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2651760" y="5394960"/>
            <a:ext cx="871697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30"/>
              </a:lnSpc>
              <a:buNone/>
            </a:pPr>
            <a:r>
              <a:rPr lang="en-US" sz="1050" dirty="0">
                <a:solidFill>
                  <a:srgbClr val="065F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桌面版所有用户数据默认存储在本地，不上传云端；使用云端模型时仅发送必要的生成请求，不存储个人学习数据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来源：知域引擎数据安全与隐私保护设计文档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培训认证  /  TRAINING &amp; CERTIFICATION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完整的培训管理与认证考核体系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培训管理功能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5394960" cy="62179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011680"/>
            <a:ext cx="54864" cy="62179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139696"/>
            <a:ext cx="384048" cy="38404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1396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280160" y="20665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培训计划管理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280160" y="2340864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创建培训项目、设定学习目标、安排学习进度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724912"/>
            <a:ext cx="53949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724912"/>
            <a:ext cx="54864" cy="62179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2852928"/>
            <a:ext cx="384048" cy="38404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8529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80160" y="277977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学员管理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280160" y="3054096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批量导入学员、分组管理、学习进度追踪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438144"/>
            <a:ext cx="5394960" cy="62179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38144"/>
            <a:ext cx="54864" cy="62179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3566160"/>
            <a:ext cx="384048" cy="38404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5661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80160" y="3493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题库管理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280160" y="3767328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多题型支持、批量导入、难度分级、知识点标签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4151376"/>
            <a:ext cx="53949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151376"/>
            <a:ext cx="54864" cy="62179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" y="4279392"/>
            <a:ext cx="384048" cy="38404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4279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280160" y="4206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成绩分析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280160" y="4480560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成绩统计、错题分析、知识点掌握度可视化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48640" y="4864608"/>
            <a:ext cx="5394960" cy="621792"/>
          </a:xfrm>
          <a:prstGeom prst="rect">
            <a:avLst/>
          </a:prstGeom>
          <a:solidFill>
            <a:srgbClr val="F7F8FA"/>
          </a:solidFill>
          <a:ln w="6350">
            <a:solidFill>
              <a:srgbClr val="E2E5E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864608"/>
            <a:ext cx="54864" cy="62179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9808" y="4992624"/>
            <a:ext cx="384048" cy="38404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49926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280160" y="491947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证书颁发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0160" y="5193792"/>
            <a:ext cx="44805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自动生成培训证书、成绩证明、学习时长证明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17920" y="1645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认证考核体系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217920" y="2011680"/>
            <a:ext cx="5394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46520" y="2139696"/>
            <a:ext cx="475488" cy="47548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46520" y="2139696"/>
            <a:ext cx="475488" cy="47548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086600" y="210312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助理工程师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7086600" y="2395728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掌握基础知识，通过入门考核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86600" y="2578608"/>
            <a:ext cx="4343400" cy="54864"/>
          </a:xfrm>
          <a:prstGeom prst="rect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086600" y="2578608"/>
            <a:ext cx="1085850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17920" y="2816352"/>
            <a:ext cx="5394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46520" y="2944368"/>
            <a:ext cx="475488" cy="475488"/>
          </a:xfrm>
          <a:prstGeom prst="ellipse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2944368"/>
            <a:ext cx="475488" cy="47548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中级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86600" y="290779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7086600" y="3200400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具备实操能力，完成项目实践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086600" y="3383280"/>
            <a:ext cx="4343400" cy="54864"/>
          </a:xfrm>
          <a:prstGeom prst="rect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86600" y="3383280"/>
            <a:ext cx="2171700" cy="54864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17920" y="3621024"/>
            <a:ext cx="5394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46520" y="3749040"/>
            <a:ext cx="475488" cy="47548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46520" y="3749040"/>
            <a:ext cx="475488" cy="47548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086600" y="371246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086600" y="4005072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深入理解原理，通过综合评估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086600" y="4187952"/>
            <a:ext cx="4343400" cy="54864"/>
          </a:xfrm>
          <a:prstGeom prst="rect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086600" y="4187952"/>
            <a:ext cx="325755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217920" y="4425696"/>
            <a:ext cx="53949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46520" y="4553712"/>
            <a:ext cx="475488" cy="47548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46520" y="4553712"/>
            <a:ext cx="475488" cy="47548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专家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7086600" y="451713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技术专家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7086600" y="4809744"/>
            <a:ext cx="4343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丰富实战经验，答辩评审通过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7086600" y="4992624"/>
            <a:ext cx="4343400" cy="54864"/>
          </a:xfrm>
          <a:prstGeom prst="rect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086600" y="4992624"/>
            <a:ext cx="4343400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来源：知域引擎培训与认证模块功能说明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发展规划  /  PRODUCT ROADMAP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73152" cy="41148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49808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持续迭代演进，构建智能学习新范式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49717" y="2240280"/>
            <a:ext cx="8492261" cy="36576"/>
          </a:xfrm>
          <a:prstGeom prst="rect">
            <a:avLst/>
          </a:prstGeom>
          <a:solidFill>
            <a:srgbClr val="E2E5EA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85125" y="2112264"/>
            <a:ext cx="329184" cy="329184"/>
          </a:xfrm>
          <a:prstGeom prst="ellipse">
            <a:avLst/>
          </a:prstGeom>
          <a:solidFill>
            <a:srgbClr val="05966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602154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346797" y="2130552"/>
            <a:ext cx="1005840" cy="237744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46797" y="213055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已发布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260215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697480"/>
            <a:ext cx="2602154" cy="5486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834640"/>
            <a:ext cx="22363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基础能力建设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24612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多智能体协同框架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0" y="365760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365760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知识库与 RAG 检索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406908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14400" y="406908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学习者画像建模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448056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14400" y="448056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桌面版发布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489204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14400" y="489204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幻觉检测机制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31520" y="5212080"/>
            <a:ext cx="2236394" cy="292608"/>
          </a:xfrm>
          <a:prstGeom prst="rect">
            <a:avLst/>
          </a:prstGeom>
          <a:solidFill>
            <a:srgbClr val="059669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212080"/>
            <a:ext cx="223639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596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15879" y="2112264"/>
            <a:ext cx="329184" cy="329184"/>
          </a:xfrm>
          <a:prstGeom prst="ellipse">
            <a:avLst/>
          </a:prstGeom>
          <a:solidFill>
            <a:srgbClr val="1E5A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79394" y="1691640"/>
            <a:ext cx="2602154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177551" y="2130552"/>
            <a:ext cx="1005840" cy="237744"/>
          </a:xfrm>
          <a:prstGeom prst="rect">
            <a:avLst/>
          </a:prstGeom>
          <a:solidFill>
            <a:srgbClr val="1E5AA8"/>
          </a:solidFill>
          <a:ln w="6350">
            <a:solidFill>
              <a:srgbClr val="1E5A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77551" y="213055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规划中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79394" y="2697480"/>
            <a:ext cx="260215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79394" y="2697480"/>
            <a:ext cx="2602154" cy="54864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62274" y="2834640"/>
            <a:ext cx="22363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体验与性能优化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562274" y="324612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745154" y="324612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生成质量持续优化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562274" y="365760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745154" y="365760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学习路径智能推荐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562274" y="406908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745154" y="406908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新增学科领域覆盖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562274" y="448056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745154" y="448056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桌面版性能优化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3562274" y="489204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745154" y="489204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批量导入导出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562274" y="5212080"/>
            <a:ext cx="2236394" cy="292608"/>
          </a:xfrm>
          <a:prstGeom prst="rect">
            <a:avLst/>
          </a:prstGeom>
          <a:solidFill>
            <a:srgbClr val="1E5AA8"/>
          </a:solidFill>
          <a:ln w="6350">
            <a:solidFill>
              <a:srgbClr val="1E5AA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562274" y="5212080"/>
            <a:ext cx="223639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346633" y="2112264"/>
            <a:ext cx="329184" cy="329184"/>
          </a:xfrm>
          <a:prstGeom prst="ellipse">
            <a:avLst/>
          </a:prstGeom>
          <a:solidFill>
            <a:srgbClr val="7C3AE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0148" y="1691640"/>
            <a:ext cx="2602154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v2.0</a:t>
            </a:r>
            <a:endParaRPr lang="en-US" sz="2000" dirty="0"/>
          </a:p>
        </p:txBody>
      </p:sp>
      <p:sp>
        <p:nvSpPr>
          <p:cNvPr id="47" name="Shape 45"/>
          <p:cNvSpPr/>
          <p:nvPr/>
        </p:nvSpPr>
        <p:spPr>
          <a:xfrm>
            <a:off x="7008305" y="2130552"/>
            <a:ext cx="1005840" cy="237744"/>
          </a:xfrm>
          <a:prstGeom prst="rect">
            <a:avLst/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08305" y="213055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规划中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210148" y="2697480"/>
            <a:ext cx="260215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0148" y="2697480"/>
            <a:ext cx="260215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393028" y="2834640"/>
            <a:ext cx="22363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协作与社群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393028" y="324612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575908" y="324612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多学习者班级管理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393028" y="365760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575908" y="365760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教师端备课工具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393028" y="406908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575908" y="406908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学习社群互动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393028" y="448056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575908" y="448056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资源共享市场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393028" y="489204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575908" y="489204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移动端适配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393028" y="5212080"/>
            <a:ext cx="2236394" cy="292608"/>
          </a:xfrm>
          <a:prstGeom prst="rect">
            <a:avLst/>
          </a:prstGeom>
          <a:solidFill>
            <a:srgbClr val="7C3AED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393028" y="5212080"/>
            <a:ext cx="223639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规划中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10177386" y="2112264"/>
            <a:ext cx="329184" cy="329184"/>
          </a:xfrm>
          <a:prstGeom prst="ellipse">
            <a:avLst/>
          </a:prstGeom>
          <a:solidFill>
            <a:srgbClr val="D9770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040901" y="1691640"/>
            <a:ext cx="2602154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v3.0</a:t>
            </a:r>
            <a:endParaRPr lang="en-US" sz="2000" dirty="0"/>
          </a:p>
        </p:txBody>
      </p:sp>
      <p:sp>
        <p:nvSpPr>
          <p:cNvPr id="66" name="Shape 64"/>
          <p:cNvSpPr/>
          <p:nvPr/>
        </p:nvSpPr>
        <p:spPr>
          <a:xfrm>
            <a:off x="9839058" y="2130552"/>
            <a:ext cx="1005840" cy="237744"/>
          </a:xfrm>
          <a:prstGeom prst="rect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839058" y="2130552"/>
            <a:ext cx="1005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040901" y="2697480"/>
            <a:ext cx="2602154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0901" y="2697480"/>
            <a:ext cx="260215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23781" y="2834640"/>
            <a:ext cx="22363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原生学习 OS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223781" y="324612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9406661" y="324612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全场景学习助手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9223781" y="365760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406661" y="365760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跨平台知识同步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9223781" y="406908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9406661" y="406908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开放式插件生态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9223781" y="448056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406661" y="448056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企业级知识库接入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9223781" y="4892040"/>
            <a:ext cx="18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406661" y="4892040"/>
            <a:ext cx="20535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多模态内容生成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9223781" y="5212080"/>
            <a:ext cx="2236394" cy="292608"/>
          </a:xfrm>
          <a:prstGeom prst="rect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223781" y="5212080"/>
            <a:ext cx="223639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0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48640" y="5897880"/>
            <a:ext cx="11094415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当前版本：v1.0.0  ·  首个 Windows 桌面正式版已发布  ·  支持完整知识库与多智能体生成能力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548640" y="6126480"/>
            <a:ext cx="11094415" cy="0"/>
          </a:xfrm>
          <a:prstGeom prst="line">
            <a:avLst/>
          </a:prstGeom>
          <a:noFill/>
          <a:ln w="9525">
            <a:solidFill>
              <a:srgbClr val="E2E5E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548640" y="6217920"/>
            <a:ext cx="1109441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来源：知域引擎产品路线图规划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10728655" y="621792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07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9144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9144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0" y="9144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0" y="9144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0" y="13716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0" y="13716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0" y="13716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0" y="18288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8288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0" y="18288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0" y="22860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0" y="22860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0" y="22860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27432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27432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515600" y="27432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972800" y="27432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0" y="32004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41148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41148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515600" y="41148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0" y="45720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0" y="45720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0" y="45720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0" y="50292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515600" y="50292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0" y="5486400"/>
            <a:ext cx="429768" cy="429768"/>
          </a:xfrm>
          <a:prstGeom prst="rect">
            <a:avLst/>
          </a:prstGeom>
          <a:solidFill>
            <a:srgbClr val="242A3D"/>
          </a:solidFill>
          <a:ln w="12700">
            <a:solidFill>
              <a:srgbClr val="242A3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2011680"/>
            <a:ext cx="54864" cy="731520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283464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感谢聆听</a:t>
            </a:r>
            <a:endParaRPr lang="en-US" sz="4400" dirty="0"/>
          </a:p>
        </p:txBody>
      </p:sp>
      <p:sp>
        <p:nvSpPr>
          <p:cNvPr id="32" name="Text 30"/>
          <p:cNvSpPr/>
          <p:nvPr/>
        </p:nvSpPr>
        <p:spPr>
          <a:xfrm>
            <a:off x="731520" y="40233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知域引擎  ·  让领域知识学习更智能、更可信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31520" y="4754880"/>
            <a:ext cx="1371600" cy="27432"/>
          </a:xfrm>
          <a:prstGeom prst="rect">
            <a:avLst/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29200"/>
            <a:ext cx="128016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731520" y="5440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智能体协同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194560" y="5029200"/>
            <a:ext cx="128016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2194560" y="5440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核心功能模块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0" y="5029200"/>
            <a:ext cx="128016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3657600" y="5440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部署形态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120640" y="5029200"/>
            <a:ext cx="1280160" cy="41148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E5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120640" y="544068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正式版本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1115</Words>
  <Application>Microsoft Office PowerPoint</Application>
  <PresentationFormat>宽屏</PresentationFormat>
  <Paragraphs>567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上海云之脑智能科技有限公司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知域引擎 - 领域知识个性化生成与多智能体协同决策系统</dc:title>
  <dc:subject>PptxGenJS Presentation</dc:subject>
  <dc:creator>知域引擎项目组</dc:creator>
  <cp:lastModifiedBy>伟华 惠</cp:lastModifiedBy>
  <cp:revision>2</cp:revision>
  <dcterms:created xsi:type="dcterms:W3CDTF">2026-08-29T06:00:50Z</dcterms:created>
  <dcterms:modified xsi:type="dcterms:W3CDTF">2026-08-29T06:34:38Z</dcterms:modified>
</cp:coreProperties>
</file>